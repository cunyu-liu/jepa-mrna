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58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10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8654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主图 1｜统一模型口径：最佳单 checkpoint 4/8，xens2 为 6/8
r2d_tr1 仅 3 格：2 格胜所选参照、0/3 全板敏感性；bpRNA-new 0.6132 非全板 SOTA。旧 7/8 是混合模型组合。
来源: 主表与 metrics matrix；RNAformer bioRxiv 2024 Tables 2/4；模型身份与 GT 口径复核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主图 2｜历史 head-only 峰值 124.78 seq/s，禁止跨口径比较
124.78 属于 r2dtr1c-s0 的历史 head-only 峰值；当前 raw-sequence B=1 为 22.28 seq/s（F1=0.668181），二者不得混用。
来源: 台账 §15.79–15.82；speed_v3/v4 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主图 3a｜五类消融 × 8 split：全矩阵性能变化
每格均为消融−匹配控制的 strict micro-F1 变化；五类消融与八 split 全部实测。
来源: main_ablation_5x8.json；40/40 + B4/B2 控制各 8/8 原始结果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主图 3b｜Turner/2D 更偏 OOD，DP 效应依任务而变
Turner 与 2D scorer 的 PDB-OOD 损失大于 ID；DP 的 ID 损失更大。分组为 ID=TS0/ArchiveII、外部=new/TestSetB、PDB-OOD=TS1/2/3/hard。
来源: main_ablation_5x8.json；核心三模块的分组均值与 PDB/ID 比值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主图 4｜大样本 split 校准改善，小 PDB split 不作过度承诺
TS0/TestSetB/bpRNA-new/ArchiveII 均改善；TS1 与 TS-hard 小幅改善，TS2/TS3 过校正，必须保留 n 与限制。
来源: 台账 §15.80；structure confidence 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主图 5｜历史 A100 帕累托集；4090 共同协议重测中
旧 124.78 为 cached-embedding/head-only，不能混入 raw-sequence 前沿；当前仅四个系统 B=1 已通过，完整网格待验收。
来源: A100 baseline board + §15.79；Pareto 程序逐点判定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主图 7｜主 benchmark 8/8 正迁移；原论文三任务不显著为正
8/8 仅指主 benchmark；secondary-structure 数据门已过、五种子待验收；contact-distance/shuffle 保持 blocked，不作全覆盖声明。
来源: ROUND26/T-A99 + round34 downstream QA；其余原论文任务待官方资产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主图 8A｜官方分类未显著为正；MRL 已验收为负，十折回归待闭环
working 面板保留全部负结果；旧 177 类只作敏感性，不替代官方 88 类；图 8B 暂不入片。
来源: round33/34 full results + external QA；分类与回归分图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主图 9｜CHANRG：重点看 OOD mean，而不是回避 GenF
xens2 OOD mean 0.4434 vs OFoldNA-SS 0.4410，仅写并列；GenF=0.3066 是弱项，不用均值掩盖。
来源: OFoldNA Table 3 同口径；ROUND26 CHANRG 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主图 10｜短中段领先，&gt;400 nt 仍是开放问题
长度分层用于界定部署边界，不把 retention 写成绝对长链优势；重复的原第 35 页已删除。
来源: ROUND29 length-bucket result.json 重算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1206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kern="0" spc="180" dirty="0">
                <a:solidFill>
                  <a:srgbClr val="73D4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RNA-JEV / RESEARCH DECK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141732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51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结构决策头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21792" y="2157984"/>
            <a:ext cx="6629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345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去污染 benchmark、OOD 机制与跨骨干迁移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21792" y="3419856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950"/>
              </a:lnSpc>
              <a:buNone/>
            </a:pPr>
            <a:r>
              <a:rPr lang="en-US" sz="1300" dirty="0">
                <a:solidFill>
                  <a:srgbClr val="C4CED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论文逻辑版项目进展｜从评测卫生到机制与边界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" y="4224528"/>
            <a:ext cx="6126480" cy="1115568"/>
          </a:xfrm>
          <a:prstGeom prst="roundRect">
            <a:avLst>
              <a:gd name="adj" fmla="val 6557"/>
            </a:avLst>
          </a:prstGeom>
          <a:solidFill>
            <a:srgbClr val="182944"/>
          </a:solidFill>
          <a:ln w="8890">
            <a:solidFill>
              <a:srgbClr val="1829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41248" y="4416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73D4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核心原则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4736592"/>
            <a:ext cx="5596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模型身份、数据划分、评分器与硬件协议必须同时匹配；不重复展示同一证据。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60899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AAB6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2026-10-30 · Round 34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571232" y="987552"/>
            <a:ext cx="3886200" cy="4160520"/>
          </a:xfrm>
          <a:prstGeom prst="roundRect">
            <a:avLst>
              <a:gd name="adj" fmla="val 1882"/>
            </a:avLst>
          </a:prstGeom>
          <a:solidFill>
            <a:srgbClr val="162740"/>
          </a:solidFill>
          <a:ln w="8890">
            <a:solidFill>
              <a:srgbClr val="2B3C5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882128" y="1143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73D4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 × L DECISION MAP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09560" y="1335024"/>
            <a:ext cx="274320" cy="274320"/>
          </a:xfrm>
          <a:prstGeom prst="rect">
            <a:avLst/>
          </a:prstGeom>
          <a:solidFill>
            <a:srgbClr val="33445C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266176" y="1335024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622792" y="1335024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979408" y="1335024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9336024" y="1335024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9692640" y="1335024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10049256" y="1335024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10405872" y="1335024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10762488" y="1335024"/>
            <a:ext cx="274320" cy="274320"/>
          </a:xfrm>
          <a:prstGeom prst="rect">
            <a:avLst/>
          </a:prstGeom>
          <a:solidFill>
            <a:srgbClr val="0E7C86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7909560" y="1691640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266176" y="1691640"/>
            <a:ext cx="274320" cy="274320"/>
          </a:xfrm>
          <a:prstGeom prst="rect">
            <a:avLst/>
          </a:prstGeom>
          <a:solidFill>
            <a:srgbClr val="33445C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622792" y="1691640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979408" y="1691640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9336024" y="1691640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9692640" y="1691640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10049256" y="1691640"/>
            <a:ext cx="274320" cy="274320"/>
          </a:xfrm>
          <a:prstGeom prst="rect">
            <a:avLst/>
          </a:prstGeom>
          <a:solidFill>
            <a:srgbClr val="3775BA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10405872" y="1691640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10762488" y="1691640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7909560" y="204825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266176" y="204825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622792" y="2048256"/>
            <a:ext cx="274320" cy="274320"/>
          </a:xfrm>
          <a:prstGeom prst="rect">
            <a:avLst/>
          </a:prstGeom>
          <a:solidFill>
            <a:srgbClr val="33445C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979408" y="204825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9336024" y="2048256"/>
            <a:ext cx="274320" cy="274320"/>
          </a:xfrm>
          <a:prstGeom prst="rect">
            <a:avLst/>
          </a:prstGeom>
          <a:solidFill>
            <a:srgbClr val="3775BA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9692640" y="204825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0049256" y="204825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10405872" y="204825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10762488" y="204825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7909560" y="2404872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8266176" y="2404872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8622792" y="2404872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979408" y="2404872"/>
            <a:ext cx="274320" cy="274320"/>
          </a:xfrm>
          <a:prstGeom prst="rect">
            <a:avLst/>
          </a:prstGeom>
          <a:solidFill>
            <a:srgbClr val="33445C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9336024" y="2404872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9692640" y="2404872"/>
            <a:ext cx="274320" cy="274320"/>
          </a:xfrm>
          <a:prstGeom prst="rect">
            <a:avLst/>
          </a:prstGeom>
          <a:solidFill>
            <a:srgbClr val="0E7C86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10049256" y="2404872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10405872" y="2404872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0762488" y="2404872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7909560" y="2761488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266176" y="2761488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622792" y="2761488"/>
            <a:ext cx="274320" cy="274320"/>
          </a:xfrm>
          <a:prstGeom prst="rect">
            <a:avLst/>
          </a:prstGeom>
          <a:solidFill>
            <a:srgbClr val="3775BA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979408" y="2761488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9336024" y="2761488"/>
            <a:ext cx="274320" cy="274320"/>
          </a:xfrm>
          <a:prstGeom prst="rect">
            <a:avLst/>
          </a:prstGeom>
          <a:solidFill>
            <a:srgbClr val="33445C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9692640" y="2761488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10049256" y="2761488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10405872" y="2761488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10762488" y="2761488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7909560" y="3118104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8266176" y="3118104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8622792" y="3118104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8979408" y="3118104"/>
            <a:ext cx="274320" cy="274320"/>
          </a:xfrm>
          <a:prstGeom prst="rect">
            <a:avLst/>
          </a:prstGeom>
          <a:solidFill>
            <a:srgbClr val="0E7C86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9336024" y="3118104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9692640" y="3118104"/>
            <a:ext cx="274320" cy="274320"/>
          </a:xfrm>
          <a:prstGeom prst="rect">
            <a:avLst/>
          </a:prstGeom>
          <a:solidFill>
            <a:srgbClr val="33445C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10049256" y="3118104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10405872" y="3118104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10762488" y="3118104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7909560" y="3474720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8266176" y="3474720"/>
            <a:ext cx="274320" cy="274320"/>
          </a:xfrm>
          <a:prstGeom prst="rect">
            <a:avLst/>
          </a:prstGeom>
          <a:solidFill>
            <a:srgbClr val="3775BA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66"/>
          <p:cNvSpPr/>
          <p:nvPr/>
        </p:nvSpPr>
        <p:spPr>
          <a:xfrm>
            <a:off x="8622792" y="3474720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7"/>
          <p:cNvSpPr/>
          <p:nvPr/>
        </p:nvSpPr>
        <p:spPr>
          <a:xfrm>
            <a:off x="8979408" y="3474720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8"/>
          <p:cNvSpPr/>
          <p:nvPr/>
        </p:nvSpPr>
        <p:spPr>
          <a:xfrm>
            <a:off x="9336024" y="3474720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hape 69"/>
          <p:cNvSpPr/>
          <p:nvPr/>
        </p:nvSpPr>
        <p:spPr>
          <a:xfrm>
            <a:off x="9692640" y="3474720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Shape 70"/>
          <p:cNvSpPr/>
          <p:nvPr/>
        </p:nvSpPr>
        <p:spPr>
          <a:xfrm>
            <a:off x="10049256" y="3474720"/>
            <a:ext cx="274320" cy="274320"/>
          </a:xfrm>
          <a:prstGeom prst="rect">
            <a:avLst/>
          </a:prstGeom>
          <a:solidFill>
            <a:srgbClr val="33445C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Shape 71"/>
          <p:cNvSpPr/>
          <p:nvPr/>
        </p:nvSpPr>
        <p:spPr>
          <a:xfrm>
            <a:off x="10405872" y="3474720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Shape 72"/>
          <p:cNvSpPr/>
          <p:nvPr/>
        </p:nvSpPr>
        <p:spPr>
          <a:xfrm>
            <a:off x="10762488" y="3474720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Shape 73"/>
          <p:cNvSpPr/>
          <p:nvPr/>
        </p:nvSpPr>
        <p:spPr>
          <a:xfrm>
            <a:off x="7909560" y="383133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Shape 74"/>
          <p:cNvSpPr/>
          <p:nvPr/>
        </p:nvSpPr>
        <p:spPr>
          <a:xfrm>
            <a:off x="8266176" y="383133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Shape 75"/>
          <p:cNvSpPr/>
          <p:nvPr/>
        </p:nvSpPr>
        <p:spPr>
          <a:xfrm>
            <a:off x="8622792" y="383133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Shape 76"/>
          <p:cNvSpPr/>
          <p:nvPr/>
        </p:nvSpPr>
        <p:spPr>
          <a:xfrm>
            <a:off x="8979408" y="383133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Shape 77"/>
          <p:cNvSpPr/>
          <p:nvPr/>
        </p:nvSpPr>
        <p:spPr>
          <a:xfrm>
            <a:off x="9336024" y="383133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Shape 78"/>
          <p:cNvSpPr/>
          <p:nvPr/>
        </p:nvSpPr>
        <p:spPr>
          <a:xfrm>
            <a:off x="9692640" y="383133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Shape 79"/>
          <p:cNvSpPr/>
          <p:nvPr/>
        </p:nvSpPr>
        <p:spPr>
          <a:xfrm>
            <a:off x="10049256" y="383133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Shape 80"/>
          <p:cNvSpPr/>
          <p:nvPr/>
        </p:nvSpPr>
        <p:spPr>
          <a:xfrm>
            <a:off x="10405872" y="3831336"/>
            <a:ext cx="274320" cy="274320"/>
          </a:xfrm>
          <a:prstGeom prst="rect">
            <a:avLst/>
          </a:prstGeom>
          <a:solidFill>
            <a:srgbClr val="33445C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Shape 81"/>
          <p:cNvSpPr/>
          <p:nvPr/>
        </p:nvSpPr>
        <p:spPr>
          <a:xfrm>
            <a:off x="10762488" y="3831336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Shape 82"/>
          <p:cNvSpPr/>
          <p:nvPr/>
        </p:nvSpPr>
        <p:spPr>
          <a:xfrm>
            <a:off x="7909560" y="4187952"/>
            <a:ext cx="274320" cy="274320"/>
          </a:xfrm>
          <a:prstGeom prst="rect">
            <a:avLst/>
          </a:prstGeom>
          <a:solidFill>
            <a:srgbClr val="0E7C86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Shape 83"/>
          <p:cNvSpPr/>
          <p:nvPr/>
        </p:nvSpPr>
        <p:spPr>
          <a:xfrm>
            <a:off x="8266176" y="4187952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Shape 84"/>
          <p:cNvSpPr/>
          <p:nvPr/>
        </p:nvSpPr>
        <p:spPr>
          <a:xfrm>
            <a:off x="8622792" y="4187952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Shape 85"/>
          <p:cNvSpPr/>
          <p:nvPr/>
        </p:nvSpPr>
        <p:spPr>
          <a:xfrm>
            <a:off x="8979408" y="4187952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Shape 86"/>
          <p:cNvSpPr/>
          <p:nvPr/>
        </p:nvSpPr>
        <p:spPr>
          <a:xfrm>
            <a:off x="9336024" y="4187952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Shape 87"/>
          <p:cNvSpPr/>
          <p:nvPr/>
        </p:nvSpPr>
        <p:spPr>
          <a:xfrm>
            <a:off x="9692640" y="4187952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Shape 88"/>
          <p:cNvSpPr/>
          <p:nvPr/>
        </p:nvSpPr>
        <p:spPr>
          <a:xfrm>
            <a:off x="10049256" y="4187952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Shape 89"/>
          <p:cNvSpPr/>
          <p:nvPr/>
        </p:nvSpPr>
        <p:spPr>
          <a:xfrm>
            <a:off x="10405872" y="4187952"/>
            <a:ext cx="274320" cy="274320"/>
          </a:xfrm>
          <a:prstGeom prst="rect">
            <a:avLst/>
          </a:prstGeom>
          <a:solidFill>
            <a:srgbClr val="1D2E47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Shape 90"/>
          <p:cNvSpPr/>
          <p:nvPr/>
        </p:nvSpPr>
        <p:spPr>
          <a:xfrm>
            <a:off x="10762488" y="4187952"/>
            <a:ext cx="274320" cy="274320"/>
          </a:xfrm>
          <a:prstGeom prst="rect">
            <a:avLst/>
          </a:prstGeom>
          <a:solidFill>
            <a:srgbClr val="33445C"/>
          </a:solidFill>
          <a:ln w="3810">
            <a:solidFill>
              <a:srgbClr val="16274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Text 91"/>
          <p:cNvSpPr/>
          <p:nvPr/>
        </p:nvSpPr>
        <p:spPr>
          <a:xfrm>
            <a:off x="7772400" y="47548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ctr">
              <a:lnSpc>
                <a:spcPts val="1425"/>
              </a:lnSpc>
              <a:buNone/>
            </a:pPr>
            <a:r>
              <a:rPr lang="en-US" sz="950" dirty="0">
                <a:solidFill>
                  <a:srgbClr val="C4CED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frozen representation → 2D scorer → legal structure + confidence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论文行文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从评测卫生到机制、迁移与边界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五条创新线共用同一条证据链；每一图只回答一个问题。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结构：主文 10 图 + 4 个附录 + 1 页论文逻辑链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30352" y="1444752"/>
            <a:ext cx="6720840" cy="768096"/>
          </a:xfrm>
          <a:prstGeom prst="roundRect">
            <a:avLst>
              <a:gd name="adj" fmla="val 9524"/>
            </a:avLst>
          </a:prstGeom>
          <a:solidFill>
            <a:srgbClr val="EAF1F8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13232" y="1600200"/>
            <a:ext cx="5029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89888" y="154533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评测卫生与主结果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89888" y="1856232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25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泄露审计 → 去污染主 benchmark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36792" y="1673352"/>
            <a:ext cx="594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03–04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" y="2386584"/>
            <a:ext cx="6720840" cy="768096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13232" y="2542032"/>
            <a:ext cx="5029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89888" y="248716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效率与机制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389888" y="2798064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25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速度 → OOD 消融 → ECE → 精度-速度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36792" y="2615184"/>
            <a:ext cx="594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05–09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0352" y="3328416"/>
            <a:ext cx="6720840" cy="768096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13232" y="3483864"/>
            <a:ext cx="5029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89888" y="342900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架构拆解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389888" y="3739896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25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冻结表征、二维决策、结构先验解码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36792" y="3557016"/>
            <a:ext cx="594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0352" y="4270248"/>
            <a:ext cx="6720840" cy="768096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13232" y="4425696"/>
            <a:ext cx="5029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89888" y="437083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迁移与外部验证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389888" y="4681728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25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NucleicBERT → RiNALMo 下游 → CHANRG → 长度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36792" y="4498848"/>
            <a:ext cx="594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11–14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0352" y="5212080"/>
            <a:ext cx="6720840" cy="768096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713232" y="5367528"/>
            <a:ext cx="5029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89888" y="531266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结论与复现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389888" y="5623560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25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贡献边界、全板、协议、实验状态与写作逻辑链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36792" y="5440680"/>
            <a:ext cx="594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15–21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635240" y="1371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五条创新线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635240" y="1810512"/>
            <a:ext cx="3977640" cy="694944"/>
          </a:xfrm>
          <a:prstGeom prst="roundRect">
            <a:avLst>
              <a:gd name="adj" fmla="val 10526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7827264" y="190195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主下游 benchmark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827264" y="2176272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05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统一单模型与集成模型的参照合同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7635240" y="2670048"/>
            <a:ext cx="3977640" cy="694944"/>
          </a:xfrm>
          <a:prstGeom prst="roundRect">
            <a:avLst>
              <a:gd name="adj" fmla="val 10526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7827264" y="276148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推理速度 benchmark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827264" y="3035808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05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端到端吞吐，明确模型与硬件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7635240" y="3529584"/>
            <a:ext cx="3977640" cy="694944"/>
          </a:xfrm>
          <a:prstGeom prst="roundRect">
            <a:avLst>
              <a:gd name="adj" fmla="val 10526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7827264" y="362102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OOD 表现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827264" y="3895344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05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 split 消融与 CHANRG 外部验证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7635240" y="4389120"/>
            <a:ext cx="3977640" cy="694944"/>
          </a:xfrm>
          <a:prstGeom prst="roundRect">
            <a:avLst>
              <a:gd name="adj" fmla="val 10526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7827264" y="448056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ECE 指标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827264" y="475488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05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校准误差与结构质量排序并列</a:t>
            </a:r>
            <a:endParaRPr lang="en-US" sz="870" dirty="0"/>
          </a:p>
        </p:txBody>
      </p:sp>
      <p:sp>
        <p:nvSpPr>
          <p:cNvPr id="46" name="Shape 44"/>
          <p:cNvSpPr/>
          <p:nvPr/>
        </p:nvSpPr>
        <p:spPr>
          <a:xfrm>
            <a:off x="7635240" y="5248656"/>
            <a:ext cx="3977640" cy="694944"/>
          </a:xfrm>
          <a:prstGeom prst="roundRect">
            <a:avLst>
              <a:gd name="adj" fmla="val 10526"/>
            </a:avLst>
          </a:prstGeom>
          <a:solidFill>
            <a:srgbClr val="E9F5F4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7827264" y="53400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兼容与迁移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827264" y="5614416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05"/>
              </a:lnSpc>
              <a:buNone/>
            </a:pPr>
            <a:r>
              <a:rPr lang="en-US" sz="87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NucleicBERT 和 RiNALMo 下游任务</a:t>
            </a:r>
            <a:endParaRPr lang="en-US" sz="8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/ 评测卫生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泄露审计：先证明比较对象干净，再讨论 SOTA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保留原表；0 表示规范化序列精确重叠，不等同于同源或预训练层面的绝对保证。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来源：overlap audit、leak_full_audit、clean-181 head-to-head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399032"/>
          <a:ext cx="11240721" cy="2578608"/>
        </p:xfrm>
        <a:graphic>
          <a:graphicData uri="http://schemas.openxmlformats.org/drawingml/2006/table">
            <a:tbl>
              <a:tblPr/>
              <a:tblGrid>
                <a:gridCol w="2248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1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23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23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23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23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29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016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lnSpc>
                          <a:spcPts val="1230"/>
                        </a:lnSpc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模型（上板口径）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230"/>
                        </a:lnSpc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训练语料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230"/>
                        </a:lnSpc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230"/>
                        </a:lnSpc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new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230"/>
                        </a:lnSpc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TS1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230"/>
                        </a:lnSpc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TS2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230"/>
                        </a:lnSpc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TS3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230"/>
                        </a:lnSpc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hard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230"/>
                        </a:lnSpc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TSB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230"/>
                        </a:lnSpc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判定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RNAformer-bprna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ref_tr_bprna (34.9k)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38/63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28/39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15/19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20/28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339/428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TS1-3/hard/TSB 污染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RNAformer-interfam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ref_tr_inter (2.2k)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1/428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主判定参照（TSB 除外）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RiNALMo-ft 等 4 家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bprna_tr0 (10.7k)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247/428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仅 TSB 污染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eFold（零样本）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bpRNA子集+ArchII留出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247/428*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TSB 下界命中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xens2（我们）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bprna_tr1c (42.6k)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0/428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230"/>
                        </a:lnSpc>
                        <a:buNone/>
                      </a:pPr>
                      <a:r>
                        <a:rPr lang="en-US" sz="8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结构监督语料全板零重叠</a:t>
                      </a:r>
                      <a:endParaRPr lang="en-US" sz="8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75488" y="4261104"/>
            <a:ext cx="2633472" cy="1225296"/>
          </a:xfrm>
          <a:prstGeom prst="roundRect">
            <a:avLst>
              <a:gd name="adj" fmla="val 5970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621792" y="440740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撤回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1792" y="4727448"/>
            <a:ext cx="2331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65"/>
              </a:lnSpc>
              <a:buNone/>
            </a:pPr>
            <a:r>
              <a:rPr lang="en-US" sz="91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撤回 TR1/TS0 与 TR0/TestSetB 的污染读数，不沿用虚高结果。</a:t>
            </a:r>
            <a:endParaRPr lang="en-US" sz="910" dirty="0"/>
          </a:p>
        </p:txBody>
      </p:sp>
      <p:sp>
        <p:nvSpPr>
          <p:cNvPr id="12" name="Shape 9"/>
          <p:cNvSpPr/>
          <p:nvPr/>
        </p:nvSpPr>
        <p:spPr>
          <a:xfrm>
            <a:off x="3291840" y="4261104"/>
            <a:ext cx="2633472" cy="1225296"/>
          </a:xfrm>
          <a:prstGeom prst="roundRect">
            <a:avLst>
              <a:gd name="adj" fmla="val 5970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3438144" y="440740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去重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38144" y="4727448"/>
            <a:ext cx="2331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65"/>
              </a:lnSpc>
              <a:buNone/>
            </a:pPr>
            <a:r>
              <a:rPr lang="en-US" sz="91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 blocklist 和规范化序列精确去重，独立第二遍审计。</a:t>
            </a:r>
            <a:endParaRPr lang="en-US" sz="910" dirty="0"/>
          </a:p>
        </p:txBody>
      </p:sp>
      <p:sp>
        <p:nvSpPr>
          <p:cNvPr id="15" name="Shape 12"/>
          <p:cNvSpPr/>
          <p:nvPr/>
        </p:nvSpPr>
        <p:spPr>
          <a:xfrm>
            <a:off x="6108192" y="4261104"/>
            <a:ext cx="2633472" cy="1225296"/>
          </a:xfrm>
          <a:prstGeom prst="roundRect">
            <a:avLst>
              <a:gd name="adj" fmla="val 5970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6254496" y="440740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冻结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54496" y="4727448"/>
            <a:ext cx="2331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65"/>
              </a:lnSpc>
              <a:buNone/>
            </a:pPr>
            <a:r>
              <a:rPr lang="en-US" sz="91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 split、GT、评分器和 SHA256；参照 checkpoint 逐 split 选择。</a:t>
            </a:r>
            <a:endParaRPr lang="en-US" sz="910" dirty="0"/>
          </a:p>
        </p:txBody>
      </p:sp>
      <p:sp>
        <p:nvSpPr>
          <p:cNvPr id="18" name="Shape 15"/>
          <p:cNvSpPr/>
          <p:nvPr/>
        </p:nvSpPr>
        <p:spPr>
          <a:xfrm>
            <a:off x="8924544" y="4261104"/>
            <a:ext cx="2633472" cy="1225296"/>
          </a:xfrm>
          <a:prstGeom prst="roundRect">
            <a:avLst>
              <a:gd name="adj" fmla="val 5970"/>
            </a:avLst>
          </a:prstGeom>
          <a:solidFill>
            <a:srgbClr val="E9F5F4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9070848" y="440740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复评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070848" y="4727448"/>
            <a:ext cx="2331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65"/>
              </a:lnSpc>
              <a:buNone/>
            </a:pPr>
            <a:r>
              <a:rPr lang="en-US" sz="91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TestSetB 改用 clean-181：xens2 0.8370 vs RiNALMo-ft 0.8177。</a:t>
            </a:r>
            <a:endParaRPr lang="en-US" sz="910" dirty="0"/>
          </a:p>
        </p:txBody>
      </p:sp>
      <p:sp>
        <p:nvSpPr>
          <p:cNvPr id="21" name="Text 18"/>
          <p:cNvSpPr/>
          <p:nvPr/>
        </p:nvSpPr>
        <p:spPr>
          <a:xfrm>
            <a:off x="475488" y="5779008"/>
            <a:ext cx="11240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与后文关系：只有通过这页审计的参照，才进入下一页的统一主 benchmark。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/ 主 BENCHMARK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主图 1｜统一模型口径：最佳单 checkpoint 4/8，xens2 为 6/8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柱状图与同内容表格并列；同一 split、同一评分器、同一模型身份。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主表与 metrics matrix；RNAformer bioRxiv 2024 Tables 2/4；模型身份与 GT 口径复核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950" dirty="0"/>
          </a:p>
        </p:txBody>
      </p:sp>
      <p:pic>
        <p:nvPicPr>
          <p:cNvPr id="9" name="Image 0" descr="/Users/liucunyu/Documents/all_code/ZJU/mRNA_editflow/temp_20261020_02/figures/fig01_main_benchmark_3840x192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49528" y="1353312"/>
            <a:ext cx="9692640" cy="4846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" y="6208776"/>
            <a:ext cx="11240719" cy="219456"/>
          </a:xfrm>
          <a:prstGeom prst="rect">
            <a:avLst/>
          </a:prstGeom>
          <a:solidFill>
            <a:srgbClr val="F5F7FA"/>
          </a:solidFill>
          <a:ln w="889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566928" y="6236208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10"/>
              </a:lnSpc>
              <a:buNone/>
            </a:pPr>
            <a:r>
              <a:rPr lang="en-US" sz="9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r2d_tr1 仅 3 格：2 格胜所选参照、0/3 全板敏感性；bpRNA-new 0.6132 非全板 SOTA。旧 7/8 是混合模型组合。</a:t>
            </a:r>
            <a:endParaRPr lang="en-US" sz="9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/ 推理速度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主图 2｜历史 head-only 峰值 124.78 seq/s，禁止跨口径比较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RTX 4090、TS0；JEV 梯图为 cached-embedding/head-only，812,375 head；非 raw-sequence 端到端。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台账 §15.79–15.82；speed_v3/v4 JSON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950" dirty="0"/>
          </a:p>
        </p:txBody>
      </p:sp>
      <p:pic>
        <p:nvPicPr>
          <p:cNvPr id="9" name="Image 0" descr="/Users/liucunyu/Documents/all_code/ZJU/mRNA_editflow/temp_20261020_02/figures/fig02_speed_benchmark_3840x192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49528" y="1353312"/>
            <a:ext cx="9692640" cy="4846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" y="6208776"/>
            <a:ext cx="11240719" cy="219456"/>
          </a:xfrm>
          <a:prstGeom prst="rect">
            <a:avLst/>
          </a:prstGeom>
          <a:solidFill>
            <a:srgbClr val="F5F7FA"/>
          </a:solidFill>
          <a:ln w="889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566928" y="6236208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10"/>
              </a:lnSpc>
              <a:buNone/>
            </a:pPr>
            <a:r>
              <a:rPr lang="en-US" sz="9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124.78 属于 r2dtr1c-s0 的历史 head-only 峰值；当前 raw-sequence B=1 为 22.28 seq/s（F1=0.668181），二者不得混用。</a:t>
            </a:r>
            <a:endParaRPr lang="en-US" sz="9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/ OOD 机制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主图 3a｜五类消融 × 8 split：全矩阵性能变化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每行使用匹配控制；No RLCD 单独使用同协议 B=2 控制，避免把显存修复混入消融效应。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main_ablation_5x8.json；40/40 + B4/B2 控制各 8/8 原始结果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950" dirty="0"/>
          </a:p>
        </p:txBody>
      </p:sp>
      <p:pic>
        <p:nvPicPr>
          <p:cNvPr id="9" name="Image 0" descr="/Users/liucunyu/Documents/all_code/ZJU/mRNA_editflow/temp_20261020_02/figures/fig03a_ablation_matrix_3840x192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49528" y="1353312"/>
            <a:ext cx="9692640" cy="4846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" y="6208776"/>
            <a:ext cx="11240719" cy="219456"/>
          </a:xfrm>
          <a:prstGeom prst="rect">
            <a:avLst/>
          </a:prstGeom>
          <a:solidFill>
            <a:srgbClr val="F5F7FA"/>
          </a:solidFill>
          <a:ln w="889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566928" y="6236208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10"/>
              </a:lnSpc>
              <a:buNone/>
            </a:pPr>
            <a:r>
              <a:rPr lang="en-US" sz="9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每格均为消融−匹配控制的 strict micro-F1 变化；五类消融与八 split 全部实测。</a:t>
            </a:r>
            <a:endParaRPr lang="en-US" sz="9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/ OOD 机制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主图 3b｜Turner/2D 更偏 OOD，DP 效应依任务而变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核心三模块分组对照；不把不同组件强行概括为同一单调签名。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main_ablation_5x8.json；核心三模块的分组均值与 PDB/ID 比值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950" dirty="0"/>
          </a:p>
        </p:txBody>
      </p:sp>
      <p:pic>
        <p:nvPicPr>
          <p:cNvPr id="9" name="Image 0" descr="/Users/liucunyu/Documents/all_code/ZJU/mRNA_editflow/temp_20261020_02/figures/fig03b_ood_signature_3840x192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49528" y="1353312"/>
            <a:ext cx="9692640" cy="4846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" y="6208776"/>
            <a:ext cx="11240719" cy="219456"/>
          </a:xfrm>
          <a:prstGeom prst="rect">
            <a:avLst/>
          </a:prstGeom>
          <a:solidFill>
            <a:srgbClr val="F5F7FA"/>
          </a:solidFill>
          <a:ln w="889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566928" y="6236208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10"/>
              </a:lnSpc>
              <a:buNone/>
            </a:pPr>
            <a:r>
              <a:rPr lang="en-US" sz="9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Turner 与 2D scorer 的 PDB-OOD 损失大于 ID；DP 的 ID 损失更大。分组为 ID=TS0/ArchiveII、外部=new/TestSetB、PDB-OOD=TS1/2/3/hard。</a:t>
            </a:r>
            <a:endParaRPr lang="en-US" sz="9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/ 校准与置信度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主图 4｜大样本 split 校准改善，小 PDB split 不作过度承诺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VL0 拟合两参数 logit 仿射，测试 split 不重拟合；ECE 与排序能力并列。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台账 §15.80；structure confidence board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950" dirty="0"/>
          </a:p>
        </p:txBody>
      </p:sp>
      <p:pic>
        <p:nvPicPr>
          <p:cNvPr id="9" name="Image 0" descr="/Users/liucunyu/Documents/all_code/ZJU/mRNA_editflow/temp_20261020_02/figures/fig04_ece_confidence_3840x192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49528" y="1353312"/>
            <a:ext cx="9692640" cy="4846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" y="6208776"/>
            <a:ext cx="11240719" cy="219456"/>
          </a:xfrm>
          <a:prstGeom prst="rect">
            <a:avLst/>
          </a:prstGeom>
          <a:solidFill>
            <a:srgbClr val="F5F7FA"/>
          </a:solidFill>
          <a:ln w="889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566928" y="6236208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10"/>
              </a:lnSpc>
              <a:buNone/>
            </a:pPr>
            <a:r>
              <a:rPr lang="en-US" sz="9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TS0/TestSetB/bpRNA-new/ArchiveII 均改善；TS1 与 TS-hard 小幅改善，TS2/TS3 过校正，必须保留 n 与限制。</a:t>
            </a:r>
            <a:endParaRPr lang="en-US" sz="9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/ 精度-速度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主图 5｜历史 A100 帕累托集；4090 共同协议重测中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当前图仅作 A100 历史参照；正式版使用同一 4090、TS0、raw-sequence 端到端 B=1/2/4 结果。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A100 baseline board + §15.79；Pareto 程序逐点判定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en-US" sz="950" dirty="0"/>
          </a:p>
        </p:txBody>
      </p:sp>
      <p:pic>
        <p:nvPicPr>
          <p:cNvPr id="9" name="Image 0" descr="/Users/liucunyu/Documents/all_code/ZJU/mRNA_editflow/temp_20261020_02/figures/fig05_accuracy_speed_pareto_3840x192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49528" y="1353312"/>
            <a:ext cx="9692640" cy="4846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" y="6208776"/>
            <a:ext cx="11240719" cy="219456"/>
          </a:xfrm>
          <a:prstGeom prst="rect">
            <a:avLst/>
          </a:prstGeom>
          <a:solidFill>
            <a:srgbClr val="F5F7FA"/>
          </a:solidFill>
          <a:ln w="889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566928" y="6236208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10"/>
              </a:lnSpc>
              <a:buNone/>
            </a:pPr>
            <a:r>
              <a:rPr lang="en-US" sz="9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旧 124.78 为 cached-embedding/head-only，不能混入 raw-sequence 前沿；当前仅四个系统 B=1 已通过，完整网格待验收。</a:t>
            </a:r>
            <a:endParaRPr lang="en-US" sz="9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/ 架构拆解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主图 6｜三层架构：冻结表征、二维决策、结构先验解码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每个模块都标出输入、输出、可训练参数和验证路径；不是概念拼贴。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decision_head.py / harness.py / evaluate_decision.py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5488" y="6126480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与后文关系：迁移实验复用同一决策头与先验栈，只替换骨干或下游头。</a:t>
            </a:r>
            <a:endParaRPr lang="en-US" sz="1020" dirty="0"/>
          </a:p>
        </p:txBody>
      </p:sp>
      <p:sp>
        <p:nvSpPr>
          <p:cNvPr id="47" name="Rounded Rectangle 46"/>
          <p:cNvSpPr/>
          <p:nvPr/>
        </p:nvSpPr>
        <p:spPr>
          <a:xfrm>
            <a:off x="502920" y="1417320"/>
            <a:ext cx="3401568" cy="4535424"/>
          </a:xfrm>
          <a:prstGeom prst="roundRect">
            <a:avLst/>
          </a:prstGeom>
          <a:solidFill>
            <a:srgbClr val="EAF1F8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133087" y="1417320"/>
            <a:ext cx="3913632" cy="4535424"/>
          </a:xfrm>
          <a:prstGeom prst="roundRect">
            <a:avLst/>
          </a:prstGeom>
          <a:solidFill>
            <a:srgbClr val="F5F7FA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275320" y="1417320"/>
            <a:ext cx="3410712" cy="4535424"/>
          </a:xfrm>
          <a:prstGeom prst="roundRect">
            <a:avLst/>
          </a:prstGeom>
          <a:solidFill>
            <a:srgbClr val="E9F5F4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" y="1581912"/>
            <a:ext cx="30175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ts val="1545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0F4D92"/>
                </a:solidFill>
                <a:latin typeface="微软雅黑"/>
              </a:rPr>
              <a:t>A  FROZEN SEQUENCE REPRESENTATION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52544" y="1581912"/>
            <a:ext cx="34747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ts val="1545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0F4D92"/>
                </a:solidFill>
                <a:latin typeface="微软雅黑"/>
              </a:rPr>
              <a:t>B  PAIRWISE 2D DECISION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1581912"/>
            <a:ext cx="303580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E7C86"/>
                </a:solidFill>
                <a:latin typeface="微软雅黑"/>
              </a:rPr>
              <a:t>C  CONSTRAINED DECODING + CALIBRATION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8" y="1883664"/>
            <a:ext cx="265176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67085"/>
                </a:solidFill>
                <a:latin typeface="微软雅黑"/>
              </a:rPr>
              <a:t>RNA sequence · length 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3232" y="2176272"/>
            <a:ext cx="347472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8096" y="2203703"/>
            <a:ext cx="23774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7243A"/>
                </a:solidFill>
                <a:latin typeface="微软雅黑"/>
              </a:rPr>
              <a:t>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52144" y="2176272"/>
            <a:ext cx="347472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07008" y="2203703"/>
            <a:ext cx="23774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7243A"/>
                </a:solidFill>
                <a:latin typeface="微软雅黑"/>
              </a:rPr>
              <a:t>U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591056" y="2176272"/>
            <a:ext cx="347472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45920" y="2203703"/>
            <a:ext cx="23774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7243A"/>
                </a:solidFill>
                <a:latin typeface="微软雅黑"/>
              </a:rPr>
              <a:t>G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029967" y="2176272"/>
            <a:ext cx="347472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84831" y="2203703"/>
            <a:ext cx="23774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7243A"/>
                </a:solidFill>
                <a:latin typeface="微软雅黑"/>
              </a:rPr>
              <a:t>C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468880" y="2176272"/>
            <a:ext cx="347472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523744" y="2203703"/>
            <a:ext cx="23774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7243A"/>
                </a:solidFill>
                <a:latin typeface="微软雅黑"/>
              </a:rPr>
              <a:t>…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907791" y="2176272"/>
            <a:ext cx="347472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62656" y="2203703"/>
            <a:ext cx="237744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7243A"/>
                </a:solidFill>
                <a:latin typeface="微软雅黑"/>
              </a:rPr>
              <a:t>U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2203704" y="2523744"/>
            <a:ext cx="0" cy="402336"/>
          </a:xfrm>
          <a:prstGeom prst="line">
            <a:avLst/>
          </a:prstGeom>
          <a:ln w="13970">
            <a:solidFill>
              <a:srgbClr val="0F4D9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841248" y="2926080"/>
            <a:ext cx="2761488" cy="841248"/>
          </a:xfrm>
          <a:prstGeom prst="roundRect">
            <a:avLst/>
          </a:prstGeom>
          <a:solidFill>
            <a:srgbClr val="0F4D92"/>
          </a:solidFill>
          <a:ln w="7620">
            <a:solidFill>
              <a:srgbClr val="0F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7552" y="3017520"/>
            <a:ext cx="24688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RiNALMo-giga · 650M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7552" y="3310128"/>
            <a:ext cx="246888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FFFFFF"/>
                </a:solidFill>
                <a:latin typeface="微软雅黑"/>
              </a:rPr>
              <a:t>33 Transformer blocks · 1280-d output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7552" y="3538728"/>
            <a:ext cx="246888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FFFFFF"/>
                </a:solidFill>
                <a:latin typeface="微软雅黑"/>
              </a:rPr>
              <a:t>frozen backbone · 0 trainable parameters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2203704" y="3767328"/>
            <a:ext cx="0" cy="310896"/>
          </a:xfrm>
          <a:prstGeom prst="line">
            <a:avLst/>
          </a:prstGeom>
          <a:ln w="13970">
            <a:solidFill>
              <a:srgbClr val="0F4D9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1207008" y="4078224"/>
            <a:ext cx="141732" cy="141732"/>
          </a:xfrm>
          <a:prstGeom prst="rect">
            <a:avLst/>
          </a:prstGeom>
          <a:solidFill>
            <a:srgbClr val="EAF1F8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371600" y="4078224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536192" y="4078224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700784" y="4078224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865376" y="4078224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029967" y="4078224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194560" y="4078224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207008" y="4242816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371600" y="4242816"/>
            <a:ext cx="141732" cy="141732"/>
          </a:xfrm>
          <a:prstGeom prst="rect">
            <a:avLst/>
          </a:prstGeom>
          <a:solidFill>
            <a:srgbClr val="EAF1F8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536192" y="4242816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700784" y="4242816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865376" y="4242816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029967" y="4242816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194560" y="4242816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207008" y="4407408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371600" y="4407408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536192" y="4407408"/>
            <a:ext cx="141732" cy="141732"/>
          </a:xfrm>
          <a:prstGeom prst="rect">
            <a:avLst/>
          </a:prstGeom>
          <a:solidFill>
            <a:srgbClr val="EAF1F8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700784" y="4407408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865376" y="4407408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029967" y="4407408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194560" y="4407408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207008" y="4572000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371600" y="4572000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536192" y="4572000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700784" y="4572000"/>
            <a:ext cx="141732" cy="141732"/>
          </a:xfrm>
          <a:prstGeom prst="rect">
            <a:avLst/>
          </a:prstGeom>
          <a:solidFill>
            <a:srgbClr val="EAF1F8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865376" y="4572000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029967" y="4572000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194560" y="4572000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207008" y="4736592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371600" y="4736592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536192" y="4736592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700784" y="4736592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865376" y="4736592"/>
            <a:ext cx="141732" cy="141732"/>
          </a:xfrm>
          <a:prstGeom prst="rect">
            <a:avLst/>
          </a:prstGeom>
          <a:solidFill>
            <a:srgbClr val="EAF1F8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029967" y="4736592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194560" y="4736592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07008" y="4901183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371600" y="4901183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536192" y="4901183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700784" y="4901183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865376" y="4901183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029967" y="4901183"/>
            <a:ext cx="141732" cy="141732"/>
          </a:xfrm>
          <a:prstGeom prst="rect">
            <a:avLst/>
          </a:prstGeom>
          <a:solidFill>
            <a:srgbClr val="EAF1F8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194560" y="4901183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207008" y="5065776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371600" y="5065776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536192" y="5065776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700784" y="5065776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865376" y="5065776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029967" y="5065776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194560" y="5065776"/>
            <a:ext cx="141732" cy="141732"/>
          </a:xfrm>
          <a:prstGeom prst="rect">
            <a:avLst/>
          </a:prstGeom>
          <a:solidFill>
            <a:srgbClr val="EAF1F8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523744" y="4224528"/>
            <a:ext cx="122529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F4D92"/>
                </a:solidFill>
                <a:latin typeface="微软雅黑"/>
              </a:rPr>
              <a:t>h: L × 1280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523744" y="4572000"/>
            <a:ext cx="1225296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67085"/>
                </a:solidFill>
                <a:latin typeface="微软雅黑"/>
              </a:rPr>
              <a:t>one embedding per nucleotide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32104" y="5239512"/>
            <a:ext cx="2761488" cy="3840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86968" y="5266944"/>
            <a:ext cx="26517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67085"/>
                </a:solidFill>
                <a:latin typeface="微软雅黑"/>
              </a:rPr>
              <a:t>cached or recomputed on raw sequences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32104" y="5669280"/>
            <a:ext cx="276148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0F4D92"/>
                </a:solidFill>
                <a:latin typeface="微软雅黑"/>
              </a:rPr>
              <a:t>Output: contextual sequence features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407408" y="2029968"/>
            <a:ext cx="566928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462272" y="2057400"/>
            <a:ext cx="4572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4D92"/>
                </a:solidFill>
                <a:latin typeface="微软雅黑"/>
              </a:rPr>
              <a:t>h_i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074920" y="2029968"/>
            <a:ext cx="566928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129783" y="2057400"/>
            <a:ext cx="4572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4D92"/>
                </a:solidFill>
                <a:latin typeface="微软雅黑"/>
              </a:rPr>
              <a:t>h_j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815584" y="1975104"/>
            <a:ext cx="1920240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7243A"/>
                </a:solidFill>
                <a:latin typeface="微软雅黑"/>
              </a:rPr>
              <a:t>sum  h_i + h_j</a:t>
            </a:r>
          </a:p>
          <a:p>
            <a:pPr algn="l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7243A"/>
                </a:solidFill>
                <a:latin typeface="微软雅黑"/>
              </a:rPr>
              <a:t>product  h_i ⊙ h_j</a:t>
            </a:r>
          </a:p>
          <a:p>
            <a:pPr algn="l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7243A"/>
                </a:solidFill>
                <a:latin typeface="微软雅黑"/>
              </a:rPr>
              <a:t>distance  |h_i − h_j|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407408" y="2596896"/>
            <a:ext cx="3364992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67085"/>
                </a:solidFill>
                <a:latin typeface="微软雅黑"/>
              </a:rPr>
              <a:t>zᵢⱼ = W_z [sum ; product ; distance]</a:t>
            </a:r>
          </a:p>
          <a:p>
            <a:pPr algn="ctr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67085"/>
                </a:solidFill>
                <a:latin typeface="微软雅黑"/>
              </a:rPr>
              <a:t>+ relative-offset(i,j)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526280" y="3154680"/>
            <a:ext cx="141732" cy="141732"/>
          </a:xfrm>
          <a:prstGeom prst="rect">
            <a:avLst/>
          </a:prstGeom>
          <a:solidFill>
            <a:srgbClr val="EAF1F8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0872" y="3154680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855464" y="3154680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020056" y="3154680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5184648" y="3154680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349240" y="3154680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526280" y="3319272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690872" y="3319272"/>
            <a:ext cx="141732" cy="141732"/>
          </a:xfrm>
          <a:prstGeom prst="rect">
            <a:avLst/>
          </a:prstGeom>
          <a:solidFill>
            <a:srgbClr val="EAF1F8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5464" y="3319272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20056" y="3319272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84648" y="3319272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49240" y="3319272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4526280" y="3483864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4690872" y="3483864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4855464" y="3483864"/>
            <a:ext cx="141732" cy="141732"/>
          </a:xfrm>
          <a:prstGeom prst="rect">
            <a:avLst/>
          </a:prstGeom>
          <a:solidFill>
            <a:srgbClr val="EAF1F8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020056" y="3483864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184648" y="3483864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349240" y="3483864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4526280" y="3648456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4690872" y="3648456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4855464" y="3648456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020056" y="3648456"/>
            <a:ext cx="141732" cy="141732"/>
          </a:xfrm>
          <a:prstGeom prst="rect">
            <a:avLst/>
          </a:prstGeom>
          <a:solidFill>
            <a:srgbClr val="EAF1F8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184648" y="3648456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349240" y="3648456"/>
            <a:ext cx="141732" cy="141732"/>
          </a:xfrm>
          <a:prstGeom prst="rect">
            <a:avLst/>
          </a:prstGeom>
          <a:solidFill>
            <a:srgbClr val="0E7C86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4526280" y="3813048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4690872" y="3813048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4855464" y="3813048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5020056" y="3813048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5184648" y="3813048"/>
            <a:ext cx="141732" cy="141732"/>
          </a:xfrm>
          <a:prstGeom prst="rect">
            <a:avLst/>
          </a:prstGeom>
          <a:solidFill>
            <a:srgbClr val="EAF1F8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5349240" y="3813048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4526280" y="3977639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4690872" y="3977639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4855464" y="3977639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5020056" y="3977639"/>
            <a:ext cx="141732" cy="141732"/>
          </a:xfrm>
          <a:prstGeom prst="rect">
            <a:avLst/>
          </a:prstGeom>
          <a:solidFill>
            <a:srgbClr val="F5F7F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184648" y="3977639"/>
            <a:ext cx="141732" cy="141732"/>
          </a:xfrm>
          <a:prstGeom prst="rect">
            <a:avLst/>
          </a:prstGeom>
          <a:solidFill>
            <a:srgbClr val="3775BA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5349240" y="3977639"/>
            <a:ext cx="141732" cy="141732"/>
          </a:xfrm>
          <a:prstGeom prst="rect">
            <a:avLst/>
          </a:prstGeom>
          <a:solidFill>
            <a:srgbClr val="EAF1F8"/>
          </a:solidFill>
          <a:ln w="31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443984" y="4224528"/>
            <a:ext cx="122529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67085"/>
                </a:solidFill>
                <a:latin typeface="微软雅黑"/>
              </a:rPr>
              <a:t>L × L × 128</a:t>
            </a:r>
          </a:p>
        </p:txBody>
      </p:sp>
      <p:cxnSp>
        <p:nvCxnSpPr>
          <p:cNvPr id="169" name="Connector 168"/>
          <p:cNvCxnSpPr/>
          <p:nvPr/>
        </p:nvCxnSpPr>
        <p:spPr>
          <a:xfrm>
            <a:off x="5513832" y="3621024"/>
            <a:ext cx="521208" cy="0"/>
          </a:xfrm>
          <a:prstGeom prst="line">
            <a:avLst/>
          </a:prstGeom>
          <a:ln w="13970">
            <a:solidFill>
              <a:srgbClr val="0F4D9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Rounded Rectangle 169"/>
          <p:cNvSpPr/>
          <p:nvPr/>
        </p:nvSpPr>
        <p:spPr>
          <a:xfrm>
            <a:off x="6035040" y="3063240"/>
            <a:ext cx="1755648" cy="1078992"/>
          </a:xfrm>
          <a:prstGeom prst="roundRect">
            <a:avLst/>
          </a:prstGeom>
          <a:solidFill>
            <a:srgbClr val="3775BA"/>
          </a:solidFill>
          <a:ln w="8890">
            <a:solidFill>
              <a:srgbClr val="3775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089903" y="3090672"/>
            <a:ext cx="1645919" cy="102412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微软雅黑"/>
              </a:rPr>
              <a:t>ResNet2D scorer</a:t>
            </a:r>
          </a:p>
          <a:p>
            <a:pPr algn="ctr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微软雅黑"/>
              </a:rPr>
              <a:t>1×1 stem → 4 residual blocks (3×3)</a:t>
            </a:r>
          </a:p>
          <a:p>
            <a:pPr algn="ctr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微软雅黑"/>
              </a:rPr>
              <a:t>→ 1×1 head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4425696" y="4599432"/>
            <a:ext cx="3346704" cy="548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480559" y="4626864"/>
            <a:ext cx="3236976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F4D92"/>
                </a:solidFill>
                <a:latin typeface="微软雅黑"/>
              </a:rPr>
              <a:t>symmetric L × L pair logits</a:t>
            </a:r>
          </a:p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F4D92"/>
                </a:solidFill>
                <a:latin typeface="微软雅黑"/>
              </a:rPr>
              <a:t>single forward · no autoregression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4425696" y="5285232"/>
            <a:ext cx="3346704" cy="347472"/>
          </a:xfrm>
          <a:prstGeom prst="roundRect">
            <a:avLst/>
          </a:prstGeom>
          <a:solidFill>
            <a:srgbClr val="FBF4E4"/>
          </a:solidFill>
          <a:ln w="8890">
            <a:solidFill>
              <a:srgbClr val="FBF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4480559" y="5312664"/>
            <a:ext cx="3236976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7243A"/>
                </a:solidFill>
                <a:latin typeface="微软雅黑"/>
              </a:rPr>
              <a:t>NLL + KL distillation + RLCD + soft-ECE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425696" y="5687568"/>
            <a:ext cx="334670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F4D92"/>
                </a:solidFill>
                <a:latin typeface="微软雅黑"/>
              </a:rPr>
              <a:t>decision head: 812,375 trainable parameters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8540496" y="2011680"/>
            <a:ext cx="2889504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8595360" y="2039112"/>
            <a:ext cx="2779776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7243A"/>
                </a:solidFill>
                <a:latin typeface="微软雅黑"/>
              </a:rPr>
              <a:t>scoreᵢⱼ + w_turner × TurnerPriorᵢⱼ</a:t>
            </a:r>
          </a:p>
          <a:p>
            <a:pPr algn="ctr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7243A"/>
                </a:solidFill>
                <a:latin typeface="微软雅黑"/>
              </a:rPr>
              <a:t>valid-pair mask: canonical pairs + min-loop</a:t>
            </a:r>
          </a:p>
        </p:txBody>
      </p:sp>
      <p:cxnSp>
        <p:nvCxnSpPr>
          <p:cNvPr id="179" name="Connector 178"/>
          <p:cNvCxnSpPr/>
          <p:nvPr/>
        </p:nvCxnSpPr>
        <p:spPr>
          <a:xfrm>
            <a:off x="9985248" y="2633472"/>
            <a:ext cx="0" cy="329184"/>
          </a:xfrm>
          <a:prstGeom prst="line">
            <a:avLst/>
          </a:prstGeom>
          <a:ln w="13970">
            <a:solidFill>
              <a:srgbClr val="0E7C8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Rounded Rectangle 179"/>
          <p:cNvSpPr/>
          <p:nvPr/>
        </p:nvSpPr>
        <p:spPr>
          <a:xfrm>
            <a:off x="8540496" y="2962656"/>
            <a:ext cx="2889504" cy="786384"/>
          </a:xfrm>
          <a:prstGeom prst="roundRect">
            <a:avLst/>
          </a:prstGeom>
          <a:solidFill>
            <a:srgbClr val="0E7C86"/>
          </a:solidFill>
          <a:ln w="889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595360" y="2990088"/>
            <a:ext cx="2779776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/>
              </a:rPr>
              <a:t>non-crossing max-product DP</a:t>
            </a:r>
          </a:p>
          <a:p>
            <a:pPr algn="ctr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/>
              </a:rPr>
              <a:t>C-batched exact decode · legal by construction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558784" y="3813048"/>
            <a:ext cx="285292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67085"/>
                </a:solidFill>
                <a:latin typeface="微软雅黑"/>
              </a:rPr>
              <a:t>O(L³) exact decode; no partition-function computation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8540496" y="4370832"/>
            <a:ext cx="137160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8595360" y="4398264"/>
            <a:ext cx="1261872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E7C86"/>
                </a:solidFill>
                <a:latin typeface="微软雅黑"/>
              </a:rPr>
              <a:t>STRUCTURE</a:t>
            </a:r>
          </a:p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E7C86"/>
                </a:solidFill>
                <a:latin typeface="微软雅黑"/>
              </a:rPr>
              <a:t>dot-bracket + legal base pairs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10058400" y="4370832"/>
            <a:ext cx="137160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0113264" y="4398264"/>
            <a:ext cx="1261872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F4D92"/>
                </a:solidFill>
                <a:latin typeface="微软雅黑"/>
              </a:rPr>
              <a:t>CONFIDENCE</a:t>
            </a:r>
          </a:p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F4D92"/>
                </a:solidFill>
                <a:latin typeface="微软雅黑"/>
              </a:rPr>
              <a:t>sigmoid → VL0 affine → SC / ECE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8558784" y="5266944"/>
            <a:ext cx="1335024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085"/>
                </a:solidFill>
                <a:latin typeface="微软雅黑"/>
              </a:rPr>
              <a:t>structure branch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058400" y="5266944"/>
            <a:ext cx="13716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085"/>
                </a:solidFill>
                <a:latin typeface="微软雅黑"/>
              </a:rPr>
              <a:t>calibration branch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8540496" y="5541264"/>
            <a:ext cx="2889504" cy="384048"/>
          </a:xfrm>
          <a:prstGeom prst="roundRect">
            <a:avLst/>
          </a:prstGeom>
          <a:solidFill>
            <a:srgbClr val="E9F5F4"/>
          </a:solidFill>
          <a:ln w="8890">
            <a:solidFill>
              <a:srgbClr val="E9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8595360" y="5568696"/>
            <a:ext cx="2779776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89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0E7C86"/>
                </a:solidFill>
                <a:latin typeface="微软雅黑"/>
              </a:rPr>
              <a:t>legal RNA secondary structure + per-structure confidence</a:t>
            </a:r>
          </a:p>
        </p:txBody>
      </p:sp>
      <p:cxnSp>
        <p:nvCxnSpPr>
          <p:cNvPr id="191" name="Connector 190"/>
          <p:cNvCxnSpPr/>
          <p:nvPr/>
        </p:nvCxnSpPr>
        <p:spPr>
          <a:xfrm>
            <a:off x="3913632" y="3493008"/>
            <a:ext cx="201168" cy="0"/>
          </a:xfrm>
          <a:prstGeom prst="line">
            <a:avLst/>
          </a:prstGeom>
          <a:ln w="17780">
            <a:solidFill>
              <a:srgbClr val="0F4D9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3913632" y="3246120"/>
            <a:ext cx="20116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F4D92"/>
                </a:solidFill>
                <a:latin typeface="微软雅黑"/>
              </a:rPr>
              <a:t>h</a:t>
            </a:r>
          </a:p>
        </p:txBody>
      </p:sp>
      <p:cxnSp>
        <p:nvCxnSpPr>
          <p:cNvPr id="193" name="Connector 192"/>
          <p:cNvCxnSpPr/>
          <p:nvPr/>
        </p:nvCxnSpPr>
        <p:spPr>
          <a:xfrm>
            <a:off x="8046720" y="3493008"/>
            <a:ext cx="210311" cy="0"/>
          </a:xfrm>
          <a:prstGeom prst="line">
            <a:avLst/>
          </a:prstGeom>
          <a:ln w="17780">
            <a:solidFill>
              <a:srgbClr val="0E7C8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TextBox 193"/>
          <p:cNvSpPr txBox="1"/>
          <p:nvPr/>
        </p:nvSpPr>
        <p:spPr>
          <a:xfrm>
            <a:off x="7946136" y="3246120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E7C86"/>
                </a:solidFill>
                <a:latin typeface="微软雅黑"/>
              </a:rPr>
              <a:t>logits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 / 跨骨干迁移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主图 7｜主 benchmark 8/8 正迁移；原论文三任务不显著为正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 benchmark 与原论文任务分开展示；acceptor/donor/CPEB3 全量五种子均不显著为正。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ROUND26/T-A99 + round34 downstream QA；其余原论文任务待官方资产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950" dirty="0"/>
          </a:p>
        </p:txBody>
      </p:sp>
      <p:pic>
        <p:nvPicPr>
          <p:cNvPr id="9" name="Image 0" descr="/Users/liucunyu/Documents/all_code/ZJU/mRNA_editflow/temp_20261020_02/figures/fig07_nucleicbert_transfer_3840x192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49528" y="1353312"/>
            <a:ext cx="9692640" cy="4846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" y="6208776"/>
            <a:ext cx="11240719" cy="219456"/>
          </a:xfrm>
          <a:prstGeom prst="rect">
            <a:avLst/>
          </a:prstGeom>
          <a:solidFill>
            <a:srgbClr val="F5F7FA"/>
          </a:solidFill>
          <a:ln w="889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566928" y="6236208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10"/>
              </a:lnSpc>
              <a:buNone/>
            </a:pPr>
            <a:r>
              <a:rPr lang="en-US" sz="9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8/8 仅指主 benchmark；secondary-structure 数据门已过、五种子待验收；contact-distance/shuffle 保持 blocked，不作全覆盖声明。</a:t>
            </a:r>
            <a:endParaRPr lang="en-US" sz="9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 / RINALMO 下游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主图 8A｜官方分类未显著为正；MRL 已验收为负，十折回归待闭环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MRL full_v3：R² Δ=-0.468847（不显著为正）；图 8B 待 TE/EL 十折，其余任务继续验收。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round33/34 full results + external QA；分类与回归分图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950" dirty="0"/>
          </a:p>
        </p:txBody>
      </p:sp>
      <p:pic>
        <p:nvPicPr>
          <p:cNvPr id="9" name="Image 0" descr="/Users/liucunyu/Documents/all_code/ZJU/mRNA_editflow/temp_20261020_02/figures/fig08_rinalmo_downstream_3840x192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49528" y="1353312"/>
            <a:ext cx="9692640" cy="4846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" y="6208776"/>
            <a:ext cx="11240719" cy="219456"/>
          </a:xfrm>
          <a:prstGeom prst="rect">
            <a:avLst/>
          </a:prstGeom>
          <a:solidFill>
            <a:srgbClr val="F5F7FA"/>
          </a:solidFill>
          <a:ln w="889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566928" y="6236208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10"/>
              </a:lnSpc>
              <a:buNone/>
            </a:pPr>
            <a:r>
              <a:rPr lang="en-US" sz="9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working 面板保留全部负结果；旧 177 类只作敏感性，不替代官方 88 类；图 8B 暂不入片。</a:t>
            </a:r>
            <a:endParaRPr lang="en-US" sz="9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外部 OOD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主图 9｜CHANRG：重点看 OOD mean，而不是回避 GenF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a：原第 26 页式四系统折线；b：OOD mean 柱状图；其余系统数据留档。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OFoldNA Table 3 同口径；ROUND26 CHANRG board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950" dirty="0"/>
          </a:p>
        </p:txBody>
      </p:sp>
      <p:pic>
        <p:nvPicPr>
          <p:cNvPr id="9" name="Image 0" descr="/Users/liucunyu/Documents/all_code/ZJU/mRNA_editflow/temp_20261020_02/figures/fig09_chanrg_ood_3840x192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49528" y="1353312"/>
            <a:ext cx="9692640" cy="4846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" y="6208776"/>
            <a:ext cx="11240719" cy="219456"/>
          </a:xfrm>
          <a:prstGeom prst="rect">
            <a:avLst/>
          </a:prstGeom>
          <a:solidFill>
            <a:srgbClr val="F5F7FA"/>
          </a:solidFill>
          <a:ln w="889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566928" y="6236208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10"/>
              </a:lnSpc>
              <a:buNone/>
            </a:pPr>
            <a:r>
              <a:rPr lang="en-US" sz="9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xens2 OOD mean 0.4434 vs OFoldNA-SS 0.4410，仅写并列；GenF=0.3066 是弱项，不用均值掩盖。</a:t>
            </a:r>
            <a:endParaRPr lang="en-US" sz="9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长度边界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主图 10｜短中段领先，&gt;400 nt 仍是开放问题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TS0 与 ArchiveII-clean 双面板；桶样本量和 strict micro-F1 全部保留。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ROUND29 length-bucket result.json 重算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950" dirty="0"/>
          </a:p>
        </p:txBody>
      </p:sp>
      <p:pic>
        <p:nvPicPr>
          <p:cNvPr id="9" name="Image 0" descr="/Users/liucunyu/Documents/all_code/ZJU/mRNA_editflow/temp_20261020_02/figures/fig10_length_generalization_3840x192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49528" y="1353312"/>
            <a:ext cx="9692640" cy="4846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" y="6208776"/>
            <a:ext cx="11240719" cy="219456"/>
          </a:xfrm>
          <a:prstGeom prst="rect">
            <a:avLst/>
          </a:prstGeom>
          <a:solidFill>
            <a:srgbClr val="F5F7FA"/>
          </a:solidFill>
          <a:ln w="889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566928" y="6236208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10"/>
              </a:lnSpc>
              <a:buNone/>
            </a:pPr>
            <a:r>
              <a:rPr lang="en-US" sz="9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长度分层用于界定部署边界，不把 retention 写成绝对长链优势；重复的原第 35 页已删除。</a:t>
            </a:r>
            <a:endParaRPr lang="en-US" sz="9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结论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五条创新线及其证据边界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结论不再靠重复图表强化；用 claim–evidence–limitation 对齐。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结论口径：Round 34 统一复核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417320"/>
          <a:ext cx="11240719" cy="4059936"/>
        </p:xfrm>
        <a:graphic>
          <a:graphicData uri="http://schemas.openxmlformats.org/drawingml/2006/table">
            <a:tbl>
              <a:tblPr/>
              <a:tblGrid>
                <a:gridCol w="1660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2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77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 marL="0" indent="0">
                        <a:lnSpc>
                          <a:spcPts val="1425"/>
                        </a:lnSpc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创新线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25"/>
                        </a:lnSpc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可支持的结论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425"/>
                        </a:lnSpc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必须同时展示的限制</a:t>
                      </a:r>
                      <a:endParaRPr lang="en-US" sz="9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 benchmark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统一 xens2 对预注册 clean 参照为 6/8；最佳单 checkpoint 4/8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旧 7/8 是混合模型组合；全板干净敏感性 xens2=5/8；TS2 未胜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推理速度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4090 raw-seq B=1：r2d 22.28 seq/s；旧 head-only 峰值 124.78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共同 batch 网格未闭环；禁止跨口径拼接速度或 xens2 F1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OOD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Turner/2D 对 PDB-OOD 贡献更大；DP 呈任务差异；CHANRG 外部验证并列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GenF 弱、TS2 未胜；xens2 与 OFoldNA-SS 的 OOD mean 仅并列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ECE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四个大样本 split 均改善，结构置信度排序全正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TS2/TS3 过校正；小样本噪声与族敏感性不可隐藏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兼容与迁移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NB 主 benchmark 8/8 正迁移；原论文下游任务未显著为正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80"/>
                        </a:lnSpc>
                        <a:buNone/>
                      </a:pPr>
                      <a:r>
                        <a:rPr lang="en-US" sz="92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NB 二级结构待五种子；contact/distance/shuffle blocked；MRL 为负，TE/EL 未闭环</a:t>
                      </a:r>
                      <a:endParaRPr lang="en-US" sz="9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75488" y="5650992"/>
            <a:ext cx="11240719" cy="493776"/>
          </a:xfrm>
          <a:prstGeom prst="roundRect">
            <a:avLst>
              <a:gd name="adj" fmla="val 14815"/>
            </a:avLst>
          </a:prstGeom>
          <a:solidFill>
            <a:srgbClr val="EAF1F8"/>
          </a:solidFill>
          <a:ln w="8890">
            <a:solidFill>
              <a:srgbClr val="EAF1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640080" y="5797296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论文闭环：干净比较 → 精度与速度 → OOD 机制 → 置信度 → 跨骨干与部署边界。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附录 A / 全板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全板敏感性：xens2=5/8，最佳单 checkpoint=4/8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完整保留基线；统一 xens2 与历史 r2d_tr1 集成单列，避免旧表混用。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inter-fam/biophys 为官方 checkpoint 项目 GT 复测；原文 Table 4 见主图 1 注释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353312"/>
          <a:ext cx="11240721" cy="4352540"/>
        </p:xfrm>
        <a:graphic>
          <a:graphicData uri="http://schemas.openxmlformats.org/drawingml/2006/table">
            <a:tbl>
              <a:tblPr/>
              <a:tblGrid>
                <a:gridCol w="3508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7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70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70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70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70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70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707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551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17627">
                <a:tc>
                  <a:txBody>
                    <a:bodyPr/>
                    <a:lstStyle/>
                    <a:p>
                      <a:pPr marL="0" indent="0">
                        <a:lnSpc>
                          <a:spcPts val="1080"/>
                        </a:lnSpc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</a:t>
                      </a:r>
                      <a:endParaRPr lang="en-US" sz="7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080"/>
                        </a:lnSpc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TS0</a:t>
                      </a:r>
                      <a:endParaRPr lang="en-US" sz="7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080"/>
                        </a:lnSpc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new</a:t>
                      </a:r>
                      <a:endParaRPr lang="en-US" sz="7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080"/>
                        </a:lnSpc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TS1</a:t>
                      </a:r>
                      <a:endParaRPr lang="en-US" sz="7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080"/>
                        </a:lnSpc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TS2</a:t>
                      </a:r>
                      <a:endParaRPr lang="en-US" sz="7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080"/>
                        </a:lnSpc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TS3</a:t>
                      </a:r>
                      <a:endParaRPr lang="en-US" sz="7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080"/>
                        </a:lnSpc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hard</a:t>
                      </a:r>
                      <a:endParaRPr lang="en-US" sz="7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080"/>
                        </a:lnSpc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ArchII</a:t>
                      </a:r>
                      <a:endParaRPr lang="en-US" sz="7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080"/>
                        </a:lnSpc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TSB</a:t>
                      </a:r>
                      <a:endParaRPr lang="en-US" sz="7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080"/>
                        </a:lnSpc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源</a:t>
                      </a:r>
                      <a:endParaRPr lang="en-US" sz="72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ViennaRNA mfe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0.5056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0.6379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0.7209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0.8980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0.8206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0.7663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0.5752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0.5225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ViennaRNA centroid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0.5393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0.6770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0.7299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0.8930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0.8235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0.7958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0.6181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0.5482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ViennaRNA mea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0.5241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0.6620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0.7192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0.8938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0.8237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0.7864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0.6054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0.5393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Nussinov+Turner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0.2126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0.3015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0.3730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0.4187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0.4131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0.4067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0.2000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0.2164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MXfold2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0.5651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0.6688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0.7967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0.8991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0.8127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0.8028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0.7400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0.6504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EternaFold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0.5400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0.6854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0.7426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0.8635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0.8005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0.7658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0.6157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0.5850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UFold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0.6598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0.6106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0.6455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0.8792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0.6326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0.6388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0.4111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0.5858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RNAformer (bprna)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0.7578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0.4936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0.7658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0.8590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0.9410‡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0.7845‡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RNAformer-if（项目GT复测）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0.8150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0.9043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0.8245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0.7709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RNAformer-biophys（项目GT复测）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0.8265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RiNALMo-ft (Zenodo)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0.7214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0.4489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0.7139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0.6702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0.6055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0.5556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0.7613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0.8177†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NucleicBERT frozen+官方头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0.1509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0.0955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0.2029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0.1541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0.1439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0.1343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0.2372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0.1210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NucleicBERT fine-tuned（实测）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0.4609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0.3453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0.6049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0.6435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0.5175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0.4845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0.4735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0.4862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eFold (Sci Adv 26)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0.5612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0.6640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0.7682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0.8862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0.7354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0.7632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0.6618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0.5661†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DEPfold (ICLR 25)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0.4430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0.1736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0.3735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0.3270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0.2670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0.2409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0.6216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0.5835†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RFold (ICML 24, TR0 重训)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0.5520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0.5313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0.6578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0.7002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0.6495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0.6220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0.6811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0.5740†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Kirigami (arXiv 2406)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0.7386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0.5800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0.7366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0.7061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0.7436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0.6782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0.7872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0.7514†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xens2（统一板协议）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0.8039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0.5532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0.8755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0.8604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0.8965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0.8732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0.7760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0.8370†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7627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r2d_tr1 2-seed（历史集成）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0.6733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0.6132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0.7664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05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GPU</a:t>
                      </a:r>
                      <a:endParaRPr lang="en-US" sz="7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75488" y="5833872"/>
            <a:ext cx="112407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84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RNAformer-if/biophys 数值来自官方 checkpoint 的项目 canonical nested GT 复测；原文 Table 4 为全文配对口径，不能直接替换增加胜场。†=clean-181；‡=不用于 clean 判定的旧参照。</a:t>
            </a:r>
            <a:endParaRPr lang="en-US" sz="8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附录 B / 历史 head-only 速度协议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模型、硬件、计时范围必须同时写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本页为历史 head-only 阶梯；不得与 raw-sequence 或 forward-only 读数混用。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r2dtr1c-s0 / TS0 n=1288 / strict micro-F1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417320"/>
          <a:ext cx="6492241" cy="3621024"/>
        </p:xfrm>
        <a:graphic>
          <a:graphicData uri="http://schemas.openxmlformats.org/drawingml/2006/table">
            <a:tbl>
              <a:tblPr/>
              <a:tblGrid>
                <a:gridCol w="1540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4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09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lnSpc>
                          <a:spcPts val="135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历史 head-only 配置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seq/s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F1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5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协议说明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B=1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21.45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0.667971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批轴/工程阶梯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B=32 + C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96.14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0.667971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批轴/工程阶梯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B=64 fp16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119.55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0.667971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批轴/工程阶梯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B=128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121.24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0.667971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批轴/工程阶梯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B=192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120.86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0.667971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批轴/工程阶梯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B=256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124.78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0.667971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历史峰值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B=384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116.40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0.667971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饱和后复测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B=512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122.60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0.667971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50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饱和后复测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251192" y="1417320"/>
            <a:ext cx="4462272" cy="722376"/>
          </a:xfrm>
          <a:prstGeom prst="roundRect">
            <a:avLst>
              <a:gd name="adj" fmla="val 10127"/>
            </a:avLst>
          </a:prstGeom>
          <a:solidFill>
            <a:srgbClr val="EAF1F8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7424928" y="1508760"/>
            <a:ext cx="4078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模型身份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24928" y="1773936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90"/>
              </a:lnSpc>
              <a:buNone/>
            </a:pPr>
            <a:r>
              <a:rPr lang="en-US" sz="86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124.78 属于 r2dtr1c-s0 的历史 head-only 峰值，不是 xens2；F1=0.667971。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7251192" y="2304288"/>
            <a:ext cx="4462272" cy="722376"/>
          </a:xfrm>
          <a:prstGeom prst="roundRect">
            <a:avLst>
              <a:gd name="adj" fmla="val 10127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7424928" y="2395728"/>
            <a:ext cx="4078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计时范围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424928" y="2660904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90"/>
              </a:lnSpc>
              <a:buNone/>
            </a:pPr>
            <a:r>
              <a:rPr lang="en-US" sz="86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含 cached embedding、812,375 head 与 C 解码；不包含 raw-sequence 编码器前向。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7251192" y="3191256"/>
            <a:ext cx="4462272" cy="722376"/>
          </a:xfrm>
          <a:prstGeom prst="roundRect">
            <a:avLst>
              <a:gd name="adj" fmla="val 10127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7424928" y="3282696"/>
            <a:ext cx="4078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硬件边界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424928" y="3547872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90"/>
              </a:lnSpc>
              <a:buNone/>
            </a:pPr>
            <a:r>
              <a:rPr lang="en-US" sz="86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UFold/RNAformer/MXfold2 为 A100 板；4090 点不与其混算 Pareto。</a:t>
            </a:r>
            <a:endParaRPr lang="en-US" sz="860" dirty="0"/>
          </a:p>
        </p:txBody>
      </p:sp>
      <p:sp>
        <p:nvSpPr>
          <p:cNvPr id="8" name="Shape 15"/>
          <p:cNvSpPr/>
          <p:nvPr/>
        </p:nvSpPr>
        <p:spPr>
          <a:xfrm>
            <a:off x="7251192" y="4078224"/>
            <a:ext cx="4462272" cy="722376"/>
          </a:xfrm>
          <a:prstGeom prst="roundRect">
            <a:avLst>
              <a:gd name="adj" fmla="val 10127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7424928" y="4169664"/>
            <a:ext cx="4078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参照限制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424928" y="4434840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90"/>
              </a:lnSpc>
              <a:buNone/>
            </a:pPr>
            <a:r>
              <a:rPr lang="en-US" sz="86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RiNALMo-ft 14.5 seq/s 为 forward-only，单列，不能冒充完整系统延迟。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7251192" y="4965192"/>
            <a:ext cx="4462272" cy="722376"/>
          </a:xfrm>
          <a:prstGeom prst="roundRect">
            <a:avLst>
              <a:gd name="adj" fmla="val 10127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7424928" y="5056632"/>
            <a:ext cx="40782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有效性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424928" y="5321808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90"/>
              </a:lnSpc>
              <a:buNone/>
            </a:pPr>
            <a:r>
              <a:rPr lang="en-US" sz="86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tp/fp/fn=24406/13778/10485；批大小不改变预测，B=384/512 只作饱和检查。</a:t>
            </a:r>
            <a:endParaRPr lang="en-US" sz="8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附录 C / 演进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模型演进与 Jev 机制映射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保留演进与竞争定位，但不把历史读数重新当成当前主结果。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模型演进表 + spec J1/J2/J3/J4/J6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417320"/>
          <a:ext cx="6675119" cy="3401568"/>
        </p:xfrm>
        <a:graphic>
          <a:graphicData uri="http://schemas.openxmlformats.org/drawingml/2006/table">
            <a:tbl>
              <a:tblPr/>
              <a:tblGrid>
                <a:gridCol w="1254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5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8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73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lnSpc>
                          <a:spcPts val="1305"/>
                        </a:lnSpc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阶段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05"/>
                        </a:lnSpc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关键变化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05"/>
                        </a:lnSpc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TS0 F1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05"/>
                        </a:lnSpc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决策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r2d / tr0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frozen RiNALMo + ResNet2D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0.6629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二维上下文有效；旧语料不用于最终主表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r2d / tr1c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去污染语料与冻结 split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0.6679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撤回虚高值，保留干净控制臂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plana / tr1c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渐进解冻，精度家族形成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0.7866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ID 提升；OOD 种子方差单列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xens2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plana 两种子 × r2d，w=0.7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0.8039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家族互补；统一模型身份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Round 32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参照与模型身份再审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6/8 clean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旧 7/8 混合口径撤回；全板敏感性单列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434072" y="1417320"/>
            <a:ext cx="4279392" cy="676656"/>
          </a:xfrm>
          <a:prstGeom prst="roundRect">
            <a:avLst>
              <a:gd name="adj" fmla="val 10811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7607808" y="150876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J2 · 单次前向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7607808" y="1773936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8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L×L pair logits；无自回归路径</a:t>
            </a:r>
            <a:endParaRPr lang="en-US" sz="840" dirty="0"/>
          </a:p>
        </p:txBody>
      </p:sp>
      <p:sp>
        <p:nvSpPr>
          <p:cNvPr id="12" name="Shape 9"/>
          <p:cNvSpPr/>
          <p:nvPr/>
        </p:nvSpPr>
        <p:spPr>
          <a:xfrm>
            <a:off x="7434072" y="2258568"/>
            <a:ext cx="4279392" cy="676656"/>
          </a:xfrm>
          <a:prstGeom prst="roundRect">
            <a:avLst>
              <a:gd name="adj" fmla="val 10811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7607808" y="2350008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J3 · 合法输出</a:t>
            </a:r>
            <a:endParaRPr lang="en-US" sz="1020" dirty="0"/>
          </a:p>
        </p:txBody>
      </p:sp>
      <p:sp>
        <p:nvSpPr>
          <p:cNvPr id="14" name="Text 11"/>
          <p:cNvSpPr/>
          <p:nvPr/>
        </p:nvSpPr>
        <p:spPr>
          <a:xfrm>
            <a:off x="7607808" y="2615184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8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非交叉 DP；非法结构率 0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7434072" y="3099816"/>
            <a:ext cx="4279392" cy="676656"/>
          </a:xfrm>
          <a:prstGeom prst="roundRect">
            <a:avLst>
              <a:gd name="adj" fmla="val 10811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7607808" y="3191256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J4 · 置信度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7607808" y="3456432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8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VL0 仿射 + SC/ECE；测试集不重拟合</a:t>
            </a:r>
            <a:endParaRPr lang="en-US" sz="840" dirty="0"/>
          </a:p>
        </p:txBody>
      </p:sp>
      <p:sp>
        <p:nvSpPr>
          <p:cNvPr id="18" name="Shape 15"/>
          <p:cNvSpPr/>
          <p:nvPr/>
        </p:nvSpPr>
        <p:spPr>
          <a:xfrm>
            <a:off x="7434072" y="3941064"/>
            <a:ext cx="4279392" cy="676656"/>
          </a:xfrm>
          <a:prstGeom prst="roundRect">
            <a:avLst>
              <a:gd name="adj" fmla="val 10811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16"/>
          <p:cNvSpPr/>
          <p:nvPr/>
        </p:nvSpPr>
        <p:spPr>
          <a:xfrm>
            <a:off x="7607808" y="4032504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J6 · System-1/2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7607808" y="42976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8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System-1 免配分函数；精确边际只作参照/教师</a:t>
            </a:r>
            <a:endParaRPr lang="en-US" sz="840" dirty="0"/>
          </a:p>
        </p:txBody>
      </p:sp>
      <p:sp>
        <p:nvSpPr>
          <p:cNvPr id="21" name="Shape 18"/>
          <p:cNvSpPr/>
          <p:nvPr/>
        </p:nvSpPr>
        <p:spPr>
          <a:xfrm>
            <a:off x="7434072" y="4782312"/>
            <a:ext cx="4279392" cy="676656"/>
          </a:xfrm>
          <a:prstGeom prst="roundRect">
            <a:avLst>
              <a:gd name="adj" fmla="val 10811"/>
            </a:avLst>
          </a:prstGeom>
          <a:solidFill>
            <a:srgbClr val="FBEFEF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7607808" y="4873752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B64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J1 · 假设空间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7607808" y="5138928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60"/>
              </a:lnSpc>
              <a:buNone/>
            </a:pPr>
            <a:r>
              <a:rPr lang="en-US" sz="84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最终采用扁平头+DP；层级级联负结果不写成贡献</a:t>
            </a:r>
            <a:endParaRPr lang="en-US" sz="840" dirty="0"/>
          </a:p>
        </p:txBody>
      </p:sp>
      <p:sp>
        <p:nvSpPr>
          <p:cNvPr id="24" name="Text 21"/>
          <p:cNvSpPr/>
          <p:nvPr/>
        </p:nvSpPr>
        <p:spPr>
          <a:xfrm>
            <a:off x="475488" y="587044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25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竞争定位：不主张首次免 DP 或首次校准；贡献在去污染评测、结构先验 OOD、效率与迁移的组合证据。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附录 D / 实验状态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实验状态与统计门：所有结果先验证，再决定主文呈现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matched_30k 三种子统计已纳入；mixed 的门判定与配对结果如实保留。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T-A126–T-A132 / audits / result.json / run_meta.json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</a:t>
            </a:r>
            <a:endParaRPr lang="en-US" sz="9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417320"/>
          <a:ext cx="11240718" cy="2304288"/>
        </p:xfrm>
        <a:graphic>
          <a:graphicData uri="http://schemas.openxmlformats.org/drawingml/2006/table">
            <a:tbl>
              <a:tblPr/>
              <a:tblGrid>
                <a:gridCol w="2194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7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07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07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67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261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lnSpc>
                          <a:spcPts val="1305"/>
                        </a:lnSpc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arm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05"/>
                        </a:lnSpc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Test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05"/>
                        </a:lnSpc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GenA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05"/>
                        </a:lnSpc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GenC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05"/>
                        </a:lnSpc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GenF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05"/>
                        </a:lnSpc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OOD mean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305"/>
                        </a:lnSpc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当前判定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27432" marB="27432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clean_s0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0.6395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0.4772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0.2247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0.2582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0.3200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已纳入 3-seed 统计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mixed_s0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0.5809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0.5671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0.2820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0.2325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0.3605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3-seed 门未通过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clean_s1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0.6274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0.4604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0.2674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0.2771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0.3350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已纳入 3-seed 统计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mixed_s1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0.5854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0.5755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0.2855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0.2584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0.3732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3-seed 门未通过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clean_s2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0.6250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0.5273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0.2627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0.2664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0.3521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已纳入 3-seed 统计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mixed_s2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0.5597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0.5396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0.2392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0.2835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0.3541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305"/>
                        </a:lnSpc>
                        <a:buNone/>
                      </a:pPr>
                      <a:r>
                        <a:rPr lang="en-US" sz="870" dirty="0">
                          <a:solidFill>
                            <a:srgbClr val="1724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3-seed 门未通过</a:t>
                      </a:r>
                      <a:endParaRPr lang="en-US" sz="87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0292" marR="50292" marT="22860" marB="22860" anchor="ctr">
                    <a:lnL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75488" y="3977640"/>
            <a:ext cx="5449824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640080" y="40873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T-A127 · matched 六臂与统计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0080" y="43982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05"/>
              </a:lnSpc>
              <a:buNone/>
            </a:pPr>
            <a:r>
              <a:rPr lang="en-US" sz="87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 格、3-seed mean±std 与 Wilcoxon–Holm 已完成；按预注册门判读。</a:t>
            </a:r>
            <a:endParaRPr lang="en-US" sz="870" dirty="0"/>
          </a:p>
        </p:txBody>
      </p:sp>
      <p:sp>
        <p:nvSpPr>
          <p:cNvPr id="12" name="Shape 9"/>
          <p:cNvSpPr/>
          <p:nvPr/>
        </p:nvSpPr>
        <p:spPr>
          <a:xfrm>
            <a:off x="6126480" y="3977640"/>
            <a:ext cx="5449824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6291072" y="40873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T-A128 · 五类消融 40/40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291072" y="43982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05"/>
              </a:lnSpc>
              <a:buNone/>
            </a:pPr>
            <a:r>
              <a:rPr lang="en-US" sz="87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40/40 与 B4/B2 控制各 8/8 已完成；按 ID/外部/PDB-OOD 分组读图。</a:t>
            </a:r>
            <a:endParaRPr lang="en-US" sz="870" dirty="0"/>
          </a:p>
        </p:txBody>
      </p:sp>
      <p:sp>
        <p:nvSpPr>
          <p:cNvPr id="15" name="Shape 12"/>
          <p:cNvSpPr/>
          <p:nvPr/>
        </p:nvSpPr>
        <p:spPr>
          <a:xfrm>
            <a:off x="475488" y="5074920"/>
            <a:ext cx="5449824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640080" y="518464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T-A129 · 新增 RiNALMo 下游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0080" y="54955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05"/>
              </a:lnSpc>
              <a:buNone/>
            </a:pPr>
            <a:r>
              <a:rPr lang="en-US" sz="87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MRL 与 HEK fold0–2 TE/EL、fold3 TE 已 QA，均不显著为正；fold3 EL 待续接。</a:t>
            </a:r>
            <a:endParaRPr lang="en-US" sz="870" dirty="0"/>
          </a:p>
        </p:txBody>
      </p:sp>
      <p:sp>
        <p:nvSpPr>
          <p:cNvPr id="18" name="Shape 15"/>
          <p:cNvSpPr/>
          <p:nvPr/>
        </p:nvSpPr>
        <p:spPr>
          <a:xfrm>
            <a:off x="6126480" y="5074920"/>
            <a:ext cx="5449824" cy="914400"/>
          </a:xfrm>
          <a:prstGeom prst="roundRect">
            <a:avLst>
              <a:gd name="adj" fmla="val 8000"/>
            </a:avLst>
          </a:prstGeom>
          <a:solidFill>
            <a:srgbClr val="E9F5F4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6291072" y="518464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复现门 · 代码与证据</a:t>
            </a:r>
            <a:endParaRPr lang="en-US" sz="1050" dirty="0"/>
          </a:p>
        </p:txBody>
      </p:sp>
      <p:sp>
        <p:nvSpPr>
          <p:cNvPr id="8" name="Text 17"/>
          <p:cNvSpPr/>
          <p:nvPr/>
        </p:nvSpPr>
        <p:spPr>
          <a:xfrm>
            <a:off x="6291072" y="54955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05"/>
              </a:lnSpc>
              <a:buNone/>
            </a:pPr>
            <a:r>
              <a:rPr lang="en-US" sz="870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 round29-handoff 已推送；24 格三通道 PASS；权重与数据 SHA256 留档。</a:t>
            </a:r>
            <a:endParaRPr lang="en-US" sz="870" dirty="0"/>
          </a:p>
        </p:txBody>
      </p:sp>
      <p:sp>
        <p:nvSpPr>
          <p:cNvPr id="21" name="Text 18"/>
          <p:cNvSpPr/>
          <p:nvPr/>
        </p:nvSpPr>
        <p:spPr>
          <a:xfrm>
            <a:off x="475488" y="6126480"/>
            <a:ext cx="11240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10"/>
              </a:lnSpc>
              <a:buNone/>
            </a:pPr>
            <a:r>
              <a:rPr lang="en-US" sz="94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splice、GenF 与其他负结果均保留在原始结果和台账；主文只选择有明确科学问题与完整证据的内容。</a:t>
            </a:r>
            <a:endParaRPr lang="en-US" sz="9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19456"/>
            <a:ext cx="11240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kern="0" spc="110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论文逻辑链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75488" y="521208"/>
            <a:ext cx="112407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075"/>
              </a:lnSpc>
              <a:buNone/>
            </a:pPr>
            <a:r>
              <a:rPr lang="en-US" sz="205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从去污染证据到可迁移结构决策模型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75488" y="1024128"/>
            <a:ext cx="11240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写作顺序：先建立可信比较，再回答性能、效率、机制与适用边界。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40719" cy="0"/>
          </a:xfrm>
          <a:prstGeom prst="line">
            <a:avLst/>
          </a:prstGeom>
          <a:noFill/>
          <a:ln w="8890">
            <a:solidFill>
              <a:srgbClr val="DDE3EA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75488" y="6547104"/>
            <a:ext cx="106006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98A2B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主图 1–10 的证据链汇总；结论与限制同源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137392" y="6519672"/>
            <a:ext cx="5669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" y="1499616"/>
            <a:ext cx="1700784" cy="3566160"/>
          </a:xfrm>
          <a:prstGeom prst="roundRect">
            <a:avLst>
              <a:gd name="adj" fmla="val 4301"/>
            </a:avLst>
          </a:prstGeom>
          <a:solidFill>
            <a:srgbClr val="EAF1F8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03504" y="1655064"/>
            <a:ext cx="4114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03504" y="2157984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去污染与参照合同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" y="2916936"/>
            <a:ext cx="14447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20"/>
              </a:lnSpc>
              <a:buNone/>
            </a:pPr>
            <a:r>
              <a:rPr lang="en-US" sz="880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tr1c 全板零精确重叠</a:t>
            </a:r>
            <a:endParaRPr lang="en-US" sz="880" dirty="0"/>
          </a:p>
          <a:p>
            <a:pPr marL="0" indent="0">
              <a:lnSpc>
                <a:spcPts val="1320"/>
              </a:lnSpc>
              <a:buNone/>
            </a:pPr>
            <a:r>
              <a:rPr lang="en-US" sz="880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冻结 split、GT 与 SHA256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603504" y="413308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45"/>
              </a:lnSpc>
              <a:buNone/>
            </a:pPr>
            <a:r>
              <a:rPr lang="en-US" sz="83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先保证比较对象与评分一致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2194560" y="3282696"/>
            <a:ext cx="155448" cy="0"/>
          </a:xfrm>
          <a:prstGeom prst="line">
            <a:avLst/>
          </a:prstGeom>
          <a:noFill/>
          <a:ln w="13970">
            <a:solidFill>
              <a:srgbClr val="0E7C8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2372868" y="1499616"/>
            <a:ext cx="1700784" cy="3566160"/>
          </a:xfrm>
          <a:prstGeom prst="roundRect">
            <a:avLst>
              <a:gd name="adj" fmla="val 4301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2500884" y="1655064"/>
            <a:ext cx="4114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500884" y="2157984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 benchmark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00884" y="2916936"/>
            <a:ext cx="14447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20"/>
              </a:lnSpc>
              <a:buNone/>
            </a:pPr>
            <a:r>
              <a:rPr lang="en-US" sz="880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xens2 6/8；最佳单 4/8</a:t>
            </a:r>
            <a:endParaRPr lang="en-US" sz="880" dirty="0"/>
          </a:p>
          <a:p>
            <a:pPr marL="0" indent="0">
              <a:lnSpc>
                <a:spcPts val="1320"/>
              </a:lnSpc>
              <a:buNone/>
            </a:pPr>
            <a:r>
              <a:rPr lang="en-US" sz="880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r2d_tr1 另列，不混模型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2500884" y="413308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45"/>
              </a:lnSpc>
              <a:buNone/>
            </a:pPr>
            <a:r>
              <a:rPr lang="en-US" sz="83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TS2 未胜；旧 7/8 是混合组合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4091940" y="3282696"/>
            <a:ext cx="155448" cy="0"/>
          </a:xfrm>
          <a:prstGeom prst="line">
            <a:avLst/>
          </a:prstGeom>
          <a:noFill/>
          <a:ln w="13970">
            <a:solidFill>
              <a:srgbClr val="0E7C8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270248" y="1499616"/>
            <a:ext cx="1700784" cy="3566160"/>
          </a:xfrm>
          <a:prstGeom prst="roundRect">
            <a:avLst>
              <a:gd name="adj" fmla="val 4301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398264" y="1655064"/>
            <a:ext cx="4114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398264" y="2157984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效率与联合边界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98264" y="2916936"/>
            <a:ext cx="14447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20"/>
              </a:lnSpc>
              <a:buNone/>
            </a:pPr>
            <a:r>
              <a:rPr lang="en-US" sz="880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raw-seq B=1：r2d 22.28 seq/s</a:t>
            </a:r>
            <a:endParaRPr lang="en-US" sz="880" dirty="0"/>
          </a:p>
          <a:p>
            <a:pPr marL="0" indent="0">
              <a:lnSpc>
                <a:spcPts val="1320"/>
              </a:lnSpc>
              <a:buNone/>
            </a:pPr>
            <a:r>
              <a:rPr lang="en-US" sz="880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批大小不改变预测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398264" y="413308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45"/>
              </a:lnSpc>
              <a:buNone/>
            </a:pPr>
            <a:r>
              <a:rPr lang="en-US" sz="83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旧 head-only 峰值 124.78；共同 batch 网格待验收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5989320" y="3282696"/>
            <a:ext cx="155448" cy="0"/>
          </a:xfrm>
          <a:prstGeom prst="line">
            <a:avLst/>
          </a:prstGeom>
          <a:noFill/>
          <a:ln w="13970">
            <a:solidFill>
              <a:srgbClr val="0E7C8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167628" y="1499616"/>
            <a:ext cx="1700784" cy="3566160"/>
          </a:xfrm>
          <a:prstGeom prst="roundRect">
            <a:avLst>
              <a:gd name="adj" fmla="val 4301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295644" y="1655064"/>
            <a:ext cx="4114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295644" y="2157984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机制：5×8 消融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95644" y="2916936"/>
            <a:ext cx="14447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20"/>
              </a:lnSpc>
              <a:buNone/>
            </a:pPr>
            <a:r>
              <a:rPr lang="en-US" sz="880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Turner/2D 的 OOD 贡献更大</a:t>
            </a:r>
            <a:endParaRPr lang="en-US" sz="880" dirty="0"/>
          </a:p>
          <a:p>
            <a:pPr marL="0" indent="0">
              <a:lnSpc>
                <a:spcPts val="1320"/>
              </a:lnSpc>
              <a:buNone/>
            </a:pPr>
            <a:r>
              <a:rPr lang="en-US" sz="880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DP 作用随任务而变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6295644" y="413308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45"/>
              </a:lnSpc>
              <a:buNone/>
            </a:pPr>
            <a:r>
              <a:rPr lang="en-US" sz="83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distillation/RLCD 为小幅混合效应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7886700" y="3282696"/>
            <a:ext cx="155448" cy="0"/>
          </a:xfrm>
          <a:prstGeom prst="line">
            <a:avLst/>
          </a:prstGeom>
          <a:noFill/>
          <a:ln w="13970">
            <a:solidFill>
              <a:srgbClr val="0E7C8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065008" y="1499616"/>
            <a:ext cx="1700784" cy="3566160"/>
          </a:xfrm>
          <a:prstGeom prst="roundRect">
            <a:avLst>
              <a:gd name="adj" fmla="val 4301"/>
            </a:avLst>
          </a:prstGeom>
          <a:solidFill>
            <a:srgbClr val="F5F7FA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193024" y="1655064"/>
            <a:ext cx="4114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193024" y="2157984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置信度与迁移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193024" y="2916936"/>
            <a:ext cx="14447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20"/>
              </a:lnSpc>
              <a:buNone/>
            </a:pPr>
            <a:r>
              <a:rPr lang="en-US" sz="880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大样本 ECE 改善；NB 主 benchmark 8/8</a:t>
            </a:r>
            <a:endParaRPr lang="en-US" sz="880" dirty="0"/>
          </a:p>
          <a:p>
            <a:pPr marL="0" indent="0">
              <a:lnSpc>
                <a:spcPts val="1320"/>
              </a:lnSpc>
              <a:buNone/>
            </a:pPr>
            <a:r>
              <a:rPr lang="en-US" sz="880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原论文任务未显著为正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8193024" y="413308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45"/>
              </a:lnSpc>
              <a:buNone/>
            </a:pPr>
            <a:r>
              <a:rPr lang="en-US" sz="830" dirty="0">
                <a:solidFill>
                  <a:srgbClr val="66708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官方资产与全协议未闭环；不外推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9784080" y="3282696"/>
            <a:ext cx="155448" cy="0"/>
          </a:xfrm>
          <a:prstGeom prst="line">
            <a:avLst/>
          </a:prstGeom>
          <a:noFill/>
          <a:ln w="13970">
            <a:solidFill>
              <a:srgbClr val="0E7C8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9962388" y="1499616"/>
            <a:ext cx="1700784" cy="3566160"/>
          </a:xfrm>
          <a:prstGeom prst="roundRect">
            <a:avLst>
              <a:gd name="adj" fmla="val 4301"/>
            </a:avLst>
          </a:prstGeom>
          <a:solidFill>
            <a:srgbClr val="FBEFEF"/>
          </a:solidFill>
          <a:ln w="889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0090404" y="1655064"/>
            <a:ext cx="4114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B64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10090404" y="2157984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1724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外部验证与边界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090404" y="2916936"/>
            <a:ext cx="14447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320"/>
              </a:lnSpc>
              <a:buNone/>
            </a:pPr>
            <a:r>
              <a:rPr lang="en-US" sz="880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CHANRG OOD mean 并列</a:t>
            </a:r>
            <a:endParaRPr lang="en-US" sz="880" dirty="0"/>
          </a:p>
          <a:p>
            <a:pPr marL="0" indent="0">
              <a:lnSpc>
                <a:spcPts val="1320"/>
              </a:lnSpc>
              <a:buNone/>
            </a:pPr>
            <a:r>
              <a:rPr lang="en-US" sz="880" dirty="0">
                <a:solidFill>
                  <a:srgbClr val="0F4D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长度分层界定部署范围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10090404" y="413308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245"/>
              </a:lnSpc>
              <a:buNone/>
            </a:pPr>
            <a:r>
              <a:rPr lang="en-US" sz="830" dirty="0">
                <a:solidFill>
                  <a:srgbClr val="B643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GenF 与 &gt;400 nt 仍需改进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475488" y="5440680"/>
            <a:ext cx="11240719" cy="694944"/>
          </a:xfrm>
          <a:prstGeom prst="roundRect">
            <a:avLst>
              <a:gd name="adj" fmla="val 10526"/>
            </a:avLst>
          </a:prstGeom>
          <a:solidFill>
            <a:srgbClr val="E9F5F4"/>
          </a:solidFill>
          <a:ln w="8890">
            <a:solidFill>
              <a:srgbClr val="E9F5F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58368" y="5641848"/>
            <a:ext cx="108749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0E7C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论文主张：先证明比较可信，再证明模型有效；机制与迁移解释收益，负结果决定主张边界。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669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kern="0" spc="150" dirty="0">
                <a:solidFill>
                  <a:srgbClr val="73D4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RNA-JEV / ROUND 34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1417320"/>
            <a:ext cx="80467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435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把每个数字放回它所属的</a:t>
            </a:r>
            <a:endParaRPr lang="en-US" sz="2900" dirty="0"/>
          </a:p>
          <a:p>
            <a:pPr marL="0" indent="0">
              <a:lnSpc>
                <a:spcPts val="435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模型、数据集和协议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3364992"/>
            <a:ext cx="43891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73D4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35024" y="335584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模型身份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37560" y="337413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4CED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 xens2=6/8；历史混合集成不再冒充单一模型。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4206240"/>
            <a:ext cx="43891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73D4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35024" y="419709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科学证据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421538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4CED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缺一格即不出图；负结果、OOD 与校准边界同页呈现。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5047488"/>
            <a:ext cx="43891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73D4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35024" y="503834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可复现交付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505663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4CED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原始 result.json、权重/数据哈希、训练台账与 GitHub 提交互相对应。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61447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AAB6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主文 10 图 · 附录 4 组 · 论文逻辑链 1 页 · 微软雅黑 · 1.5 倍行距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442448" y="6080760"/>
            <a:ext cx="10515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73D4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2747</Words>
  <Application>Microsoft Macintosh PowerPoint</Application>
  <PresentationFormat>宽屏</PresentationFormat>
  <Paragraphs>674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4" baseType="lpstr"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Zhejiang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RNA-JEV 论文逻辑版项目进展</dc:title>
  <dc:subject>去污染 benchmark、OOD 机制、校准与跨骨干迁移</dc:subject>
  <dc:creator>RNA-JEV</dc:creator>
  <cp:lastModifiedBy>Cunyu LIU 刘存宇</cp:lastModifiedBy>
  <cp:revision>18</cp:revision>
  <dcterms:created xsi:type="dcterms:W3CDTF">2026-10-26T10:58:05Z</dcterms:created>
  <dcterms:modified xsi:type="dcterms:W3CDTF">2026-10-27T17:21:52Z</dcterms:modified>
</cp:coreProperties>
</file>